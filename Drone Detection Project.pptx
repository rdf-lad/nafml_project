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embeddedFontLst>
    <p:embeddedFont>
      <p:font typeface="Poppins Medium"/>
    </p:embeddedFont>
    <p:embeddedFont>
      <p:font typeface="Lato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font" Target="fonts/Font_1_Lato_Regular.fntdata"/><Relationship Id="rId20" Type="http://schemas.openxmlformats.org/officeDocument/2006/relationships/font" Target="fonts/Font_2_Lato_Bold.fntdata"/><Relationship Id="rId21" Type="http://schemas.openxmlformats.org/officeDocument/2006/relationships/font" Target="fonts/Font_3_Lato_Italic.fntdata"/><Relationship Id="rId22" Type="http://schemas.openxmlformats.org/officeDocument/2006/relationships/font" Target="fonts/Font_4_Lato_BoldItalic.fntdata"/><Relationship Id="rId23" Type="http://schemas.openxmlformats.org/officeDocument/2006/relationships/font" Target="fonts/Font_5_Poppins_Regular.fntdata"/><Relationship Id="rId24" Type="http://schemas.openxmlformats.org/officeDocument/2006/relationships/font" Target="fonts/Font_6_Poppins_Bold.fntdata"/><Relationship Id="rId25" Type="http://schemas.openxmlformats.org/officeDocument/2006/relationships/font" Target="fonts/Font_7_Poppins_Italic.fntdata"/><Relationship Id="rId26" Type="http://schemas.openxmlformats.org/officeDocument/2006/relationships/font" Target="fonts/Font_8_Poppins_BoldItalic.fntdata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587DCF1-C90B-449A-8CC7-5956D802185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CC7FBD0-9604-4A5E-950A-C6CB1221C1B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22E68CB-47CD-4A22-8684-2BBBE381071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A589BCA-1B6E-42AA-BB51-5EB3A8C1605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2143F1A-8745-440B-859F-02FF60D5E52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buNone/>
              <a:def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8554153-2F63-4639-B785-7E46F296690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22B0C24-B97B-4B3C-9442-2937FA062A2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113274F-C2F3-4736-B2BF-F291931E4E4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7EC0C8B-0BF3-4800-94F7-5DD3FB24A84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8AFE9AB-CAC8-4011-9D16-8224DE67166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669C0C-2053-40DC-AED2-90662236E2F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hyperlink" Target="https://medium.com/@jacobbumgarner?source=post_page---byline--e0ef0168688d---------------------------------------" TargetMode="External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jpeg"/><Relationship Id="rId6" Type="http://schemas.openxmlformats.org/officeDocument/2006/relationships/image" Target="../media/image34.jpeg"/><Relationship Id="rId7" Type="http://schemas.openxmlformats.org/officeDocument/2006/relationships/image" Target="../media/image35.png"/><Relationship Id="rId8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7.png"/><Relationship Id="rId3" Type="http://schemas.openxmlformats.org/officeDocument/2006/relationships/image" Target="../media/image47.png"/><Relationship Id="rId4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84;p13" descr="image.png"/>
          <p:cNvPicPr/>
          <p:nvPr/>
        </p:nvPicPr>
        <p:blipFill>
          <a:blip r:embed="rId1"/>
          <a:stretch/>
        </p:blipFill>
        <p:spPr>
          <a:xfrm>
            <a:off x="0" y="4860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Google Shape;85;p13"/>
          <p:cNvSpPr/>
          <p:nvPr/>
        </p:nvSpPr>
        <p:spPr>
          <a:xfrm>
            <a:off x="3675600" y="2741760"/>
            <a:ext cx="4840200" cy="6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9000"/>
              </a:lnSpc>
              <a:tabLst>
                <a:tab pos="0" algn="l"/>
              </a:tabLst>
            </a:pPr>
            <a:r>
              <a:rPr lang="en-US" sz="43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Drone Detection</a:t>
            </a:r>
            <a:endParaRPr lang="fr-FR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6;p13"/>
          <p:cNvSpPr/>
          <p:nvPr/>
        </p:nvSpPr>
        <p:spPr>
          <a:xfrm>
            <a:off x="3790800" y="3492360"/>
            <a:ext cx="4609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Using Lightweight Feature-Enhanced CNN</a:t>
            </a:r>
            <a:endParaRPr lang="fr-F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7;p13"/>
          <p:cNvSpPr/>
          <p:nvPr/>
        </p:nvSpPr>
        <p:spPr>
          <a:xfrm>
            <a:off x="3790800" y="4135320"/>
            <a:ext cx="46098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3F6C"/>
                </a:solidFill>
                <a:effectLst/>
                <a:uFillTx/>
                <a:latin typeface="Lato"/>
                <a:ea typeface="Lato"/>
              </a:rPr>
              <a:t>Louis-Aïtor Donval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8;p13"/>
          <p:cNvSpPr/>
          <p:nvPr/>
        </p:nvSpPr>
        <p:spPr>
          <a:xfrm>
            <a:off x="3790800" y="4439880"/>
            <a:ext cx="46098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64748B"/>
                </a:solidFill>
                <a:effectLst/>
                <a:uFillTx/>
                <a:latin typeface="Lato"/>
                <a:ea typeface="Lato"/>
              </a:rPr>
              <a:t>Numerical Analysis For Machine Learning (NAFML) • May 31, 2026</a:t>
            </a:r>
            <a:endParaRPr lang="fr-F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Google Shape;89;p13"/>
          <p:cNvPicPr/>
          <p:nvPr/>
        </p:nvPicPr>
        <p:blipFill>
          <a:blip r:embed="rId2"/>
          <a:stretch/>
        </p:blipFill>
        <p:spPr>
          <a:xfrm>
            <a:off x="4933800" y="794520"/>
            <a:ext cx="2323800" cy="1771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94;p14" descr="image.png"/>
          <p:cNvPicPr/>
          <p:nvPr/>
        </p:nvPicPr>
        <p:blipFill>
          <a:blip r:embed="rId1"/>
          <a:stretch/>
        </p:blipFill>
        <p:spPr>
          <a:xfrm>
            <a:off x="-2160" y="2519280"/>
            <a:ext cx="3965400" cy="269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Google Shape;95;p14" descr="image.png"/>
          <p:cNvPicPr/>
          <p:nvPr/>
        </p:nvPicPr>
        <p:blipFill>
          <a:blip r:embed="rId2"/>
          <a:stretch/>
        </p:blipFill>
        <p:spPr>
          <a:xfrm>
            <a:off x="4155840" y="2519280"/>
            <a:ext cx="3883680" cy="269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Google Shape;96;p14"/>
          <p:cNvSpPr/>
          <p:nvPr/>
        </p:nvSpPr>
        <p:spPr>
          <a:xfrm>
            <a:off x="120240" y="2843280"/>
            <a:ext cx="372060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Part I: Theoretical Pillars of the reference study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7;p14"/>
          <p:cNvSpPr/>
          <p:nvPr/>
        </p:nvSpPr>
        <p:spPr>
          <a:xfrm>
            <a:off x="187920" y="3596040"/>
            <a:ext cx="384300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1.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	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The challenge of small objects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8;p14"/>
          <p:cNvSpPr/>
          <p:nvPr/>
        </p:nvSpPr>
        <p:spPr>
          <a:xfrm>
            <a:off x="175320" y="3850920"/>
            <a:ext cx="3843000" cy="9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2.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	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Architectural blocks :  LSM, EFM, and ADM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9;p14"/>
          <p:cNvSpPr/>
          <p:nvPr/>
        </p:nvSpPr>
        <p:spPr>
          <a:xfrm>
            <a:off x="175320" y="4394160"/>
            <a:ext cx="384300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3.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	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Loss function choice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00;p14"/>
          <p:cNvSpPr/>
          <p:nvPr/>
        </p:nvSpPr>
        <p:spPr>
          <a:xfrm>
            <a:off x="4365720" y="2843280"/>
            <a:ext cx="363708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Part II: Implementation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101;p14"/>
          <p:cNvSpPr/>
          <p:nvPr/>
        </p:nvSpPr>
        <p:spPr>
          <a:xfrm>
            <a:off x="4416480" y="3488760"/>
            <a:ext cx="34639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1. 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	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Dataset acquisition and processing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02;p14"/>
          <p:cNvSpPr/>
          <p:nvPr/>
        </p:nvSpPr>
        <p:spPr>
          <a:xfrm>
            <a:off x="4427640" y="4033080"/>
            <a:ext cx="34639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2.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	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Model development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03;p14"/>
          <p:cNvSpPr/>
          <p:nvPr/>
        </p:nvSpPr>
        <p:spPr>
          <a:xfrm>
            <a:off x="4427640" y="4433040"/>
            <a:ext cx="34639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3.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	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Training environment and optimization strategy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04;p14"/>
          <p:cNvSpPr/>
          <p:nvPr/>
        </p:nvSpPr>
        <p:spPr>
          <a:xfrm>
            <a:off x="714240" y="571680"/>
            <a:ext cx="11450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Summary</a:t>
            </a:r>
            <a:endParaRPr lang="fr-F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05;p14"/>
          <p:cNvSpPr/>
          <p:nvPr/>
        </p:nvSpPr>
        <p:spPr>
          <a:xfrm>
            <a:off x="571680" y="571680"/>
            <a:ext cx="56880" cy="542520"/>
          </a:xfrm>
          <a:prstGeom prst="rect">
            <a:avLst/>
          </a:prstGeom>
          <a:solidFill>
            <a:srgbClr val="B901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6;p14"/>
          <p:cNvSpPr/>
          <p:nvPr/>
        </p:nvSpPr>
        <p:spPr>
          <a:xfrm>
            <a:off x="162000" y="4643640"/>
            <a:ext cx="384300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4.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	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Anchor mechanism and K-means clustering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Google Shape;107;p14" descr="image.png"/>
          <p:cNvPicPr/>
          <p:nvPr/>
        </p:nvPicPr>
        <p:blipFill>
          <a:blip r:embed="rId3"/>
          <a:stretch/>
        </p:blipFill>
        <p:spPr>
          <a:xfrm>
            <a:off x="8259480" y="2519640"/>
            <a:ext cx="3883680" cy="269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Google Shape;108;p14"/>
          <p:cNvSpPr/>
          <p:nvPr/>
        </p:nvSpPr>
        <p:spPr>
          <a:xfrm>
            <a:off x="8469360" y="2843640"/>
            <a:ext cx="363708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Part III: Results and performance evaluation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9;p14"/>
          <p:cNvSpPr/>
          <p:nvPr/>
        </p:nvSpPr>
        <p:spPr>
          <a:xfrm>
            <a:off x="8457480" y="3596040"/>
            <a:ext cx="34639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1.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	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Metric results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10;p14"/>
          <p:cNvSpPr/>
          <p:nvPr/>
        </p:nvSpPr>
        <p:spPr>
          <a:xfrm>
            <a:off x="8454960" y="3956400"/>
            <a:ext cx="34639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2.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	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Quantitative results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11;p14"/>
          <p:cNvSpPr/>
          <p:nvPr/>
        </p:nvSpPr>
        <p:spPr>
          <a:xfrm>
            <a:off x="8455320" y="4345200"/>
            <a:ext cx="34639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3.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	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Error analysis and  future improvements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116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Google Shape;117;p15" descr="image.png"/>
          <p:cNvPicPr/>
          <p:nvPr/>
        </p:nvPicPr>
        <p:blipFill>
          <a:blip r:embed="rId2"/>
          <a:stretch/>
        </p:blipFill>
        <p:spPr>
          <a:xfrm>
            <a:off x="6334200" y="2200320"/>
            <a:ext cx="528588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Google Shape;118;p15"/>
          <p:cNvSpPr/>
          <p:nvPr/>
        </p:nvSpPr>
        <p:spPr>
          <a:xfrm>
            <a:off x="571680" y="2200320"/>
            <a:ext cx="528588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Commercial and military Unmanned Aerial Vehicles (UAVs) have expanded rapidly, bringing safety concerns: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19;p15"/>
          <p:cNvSpPr/>
          <p:nvPr/>
        </p:nvSpPr>
        <p:spPr>
          <a:xfrm>
            <a:off x="857160" y="2857680"/>
            <a:ext cx="50004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Airspace Risks: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High vulnerability inside critical national infrastructure zones.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20;p15"/>
          <p:cNvSpPr/>
          <p:nvPr/>
        </p:nvSpPr>
        <p:spPr>
          <a:xfrm>
            <a:off x="857160" y="3514680"/>
            <a:ext cx="50004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Radar Blindness: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Traditional acoustic and radar grids routinely fail to trace small targets at low altitudes.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21;p15"/>
          <p:cNvSpPr/>
          <p:nvPr/>
        </p:nvSpPr>
        <p:spPr>
          <a:xfrm>
            <a:off x="857160" y="4172040"/>
            <a:ext cx="50004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Vision Solution: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Urgent priority for highly efficient, automated optical camera systems.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Google Shape;122;p15" descr="image.png"/>
          <p:cNvPicPr/>
          <p:nvPr/>
        </p:nvPicPr>
        <p:blipFill>
          <a:blip r:embed="rId3"/>
          <a:stretch/>
        </p:blipFill>
        <p:spPr>
          <a:xfrm>
            <a:off x="571680" y="2890800"/>
            <a:ext cx="1710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Google Shape;123;p15" descr="image.png"/>
          <p:cNvPicPr/>
          <p:nvPr/>
        </p:nvPicPr>
        <p:blipFill>
          <a:blip r:embed="rId4"/>
          <a:stretch/>
        </p:blipFill>
        <p:spPr>
          <a:xfrm>
            <a:off x="571680" y="3548160"/>
            <a:ext cx="21888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Google Shape;124;p15" descr="image.png"/>
          <p:cNvPicPr/>
          <p:nvPr/>
        </p:nvPicPr>
        <p:blipFill>
          <a:blip r:embed="rId5"/>
          <a:stretch/>
        </p:blipFill>
        <p:spPr>
          <a:xfrm>
            <a:off x="571680" y="4205160"/>
            <a:ext cx="17100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Google Shape;125;p15"/>
          <p:cNvSpPr/>
          <p:nvPr/>
        </p:nvSpPr>
        <p:spPr>
          <a:xfrm>
            <a:off x="714240" y="571680"/>
            <a:ext cx="1145124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Background &amp; Motivation</a:t>
            </a:r>
            <a:endParaRPr lang="fr-F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26;p15"/>
          <p:cNvSpPr/>
          <p:nvPr/>
        </p:nvSpPr>
        <p:spPr>
          <a:xfrm>
            <a:off x="571680" y="571680"/>
            <a:ext cx="56880" cy="542520"/>
          </a:xfrm>
          <a:prstGeom prst="rect">
            <a:avLst/>
          </a:prstGeom>
          <a:solidFill>
            <a:srgbClr val="B901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" name="Google Shape;127;p15"/>
          <p:cNvPicPr/>
          <p:nvPr/>
        </p:nvPicPr>
        <p:blipFill>
          <a:blip r:embed="rId6"/>
          <a:stretch/>
        </p:blipFill>
        <p:spPr>
          <a:xfrm>
            <a:off x="6367320" y="1496880"/>
            <a:ext cx="5219640" cy="386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Google Shape;128;p15"/>
          <p:cNvSpPr/>
          <p:nvPr/>
        </p:nvSpPr>
        <p:spPr>
          <a:xfrm>
            <a:off x="9882360" y="6639120"/>
            <a:ext cx="2516400" cy="8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https://www.bbc.com/news/articles/c93x4nxlkjeo6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29;p15"/>
          <p:cNvSpPr/>
          <p:nvPr/>
        </p:nvSpPr>
        <p:spPr>
          <a:xfrm>
            <a:off x="7498800" y="5436000"/>
            <a:ext cx="32623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Recent example of drone intrusion.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134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Google Shape;135;p16" descr="image.png"/>
          <p:cNvPicPr/>
          <p:nvPr/>
        </p:nvPicPr>
        <p:blipFill>
          <a:blip r:embed="rId2"/>
          <a:stretch/>
        </p:blipFill>
        <p:spPr>
          <a:xfrm>
            <a:off x="571680" y="2443320"/>
            <a:ext cx="3492360" cy="28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Google Shape;136;p16" descr="image.png"/>
          <p:cNvPicPr/>
          <p:nvPr/>
        </p:nvPicPr>
        <p:blipFill>
          <a:blip r:embed="rId3"/>
          <a:stretch/>
        </p:blipFill>
        <p:spPr>
          <a:xfrm>
            <a:off x="4349880" y="2443320"/>
            <a:ext cx="3492360" cy="28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Google Shape;137;p16" descr="image.png"/>
          <p:cNvPicPr/>
          <p:nvPr/>
        </p:nvPicPr>
        <p:blipFill>
          <a:blip r:embed="rId4"/>
          <a:stretch/>
        </p:blipFill>
        <p:spPr>
          <a:xfrm>
            <a:off x="8128080" y="2443320"/>
            <a:ext cx="3492360" cy="284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Google Shape;138;p16"/>
          <p:cNvSpPr/>
          <p:nvPr/>
        </p:nvSpPr>
        <p:spPr>
          <a:xfrm>
            <a:off x="809640" y="3281400"/>
            <a:ext cx="31669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003F6C"/>
                </a:solidFill>
                <a:effectLst/>
                <a:uFillTx/>
                <a:latin typeface="Poppins Medium"/>
                <a:ea typeface="Poppins Medium"/>
              </a:rPr>
              <a:t>Spatial Degradation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39;p16"/>
          <p:cNvSpPr/>
          <p:nvPr/>
        </p:nvSpPr>
        <p:spPr>
          <a:xfrm>
            <a:off x="809640" y="3767040"/>
            <a:ext cx="3015720" cy="83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Consecutive pooling steps in generic deep nets systematically erase the pixel details representing distant targets.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40;p16"/>
          <p:cNvSpPr/>
          <p:nvPr/>
        </p:nvSpPr>
        <p:spPr>
          <a:xfrm>
            <a:off x="4587840" y="3281400"/>
            <a:ext cx="31669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003F6C"/>
                </a:solidFill>
                <a:effectLst/>
                <a:uFillTx/>
                <a:latin typeface="Poppins Medium"/>
                <a:ea typeface="Poppins Medium"/>
              </a:rPr>
              <a:t>Visual Background Noise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41;p16"/>
          <p:cNvSpPr/>
          <p:nvPr/>
        </p:nvSpPr>
        <p:spPr>
          <a:xfrm>
            <a:off x="4587840" y="4138560"/>
            <a:ext cx="301608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Distant birds, clouds, or urban edges introduce extreme clutter, resulting in excessive false-alarm triggers.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42;p16"/>
          <p:cNvSpPr/>
          <p:nvPr/>
        </p:nvSpPr>
        <p:spPr>
          <a:xfrm>
            <a:off x="8366400" y="3281400"/>
            <a:ext cx="31669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003F6C"/>
                </a:solidFill>
                <a:effectLst/>
                <a:uFillTx/>
                <a:latin typeface="Poppins Medium"/>
                <a:ea typeface="Poppins Medium"/>
              </a:rPr>
              <a:t>Hardware Limitations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43;p16"/>
          <p:cNvSpPr/>
          <p:nvPr/>
        </p:nvSpPr>
        <p:spPr>
          <a:xfrm>
            <a:off x="8366400" y="3767040"/>
            <a:ext cx="301608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Deploying real-time detection on lightweight edge modules demands extremely lean model sizes and high compute efficiency.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Google Shape;144;p16" descr="image.png"/>
          <p:cNvPicPr/>
          <p:nvPr/>
        </p:nvPicPr>
        <p:blipFill>
          <a:blip r:embed="rId5"/>
          <a:stretch/>
        </p:blipFill>
        <p:spPr>
          <a:xfrm>
            <a:off x="809640" y="2766960"/>
            <a:ext cx="30456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Google Shape;145;p16" descr="image.png"/>
          <p:cNvPicPr/>
          <p:nvPr/>
        </p:nvPicPr>
        <p:blipFill>
          <a:blip r:embed="rId6"/>
          <a:stretch/>
        </p:blipFill>
        <p:spPr>
          <a:xfrm>
            <a:off x="4587840" y="2766960"/>
            <a:ext cx="42840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Google Shape;146;p16" descr="image.png"/>
          <p:cNvPicPr/>
          <p:nvPr/>
        </p:nvPicPr>
        <p:blipFill>
          <a:blip r:embed="rId7"/>
          <a:stretch/>
        </p:blipFill>
        <p:spPr>
          <a:xfrm>
            <a:off x="8366400" y="276696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Google Shape;147;p16"/>
          <p:cNvSpPr/>
          <p:nvPr/>
        </p:nvSpPr>
        <p:spPr>
          <a:xfrm>
            <a:off x="714240" y="571680"/>
            <a:ext cx="1145124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The Challenge of Small Objects</a:t>
            </a:r>
            <a:endParaRPr lang="fr-F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48;p16"/>
          <p:cNvSpPr/>
          <p:nvPr/>
        </p:nvSpPr>
        <p:spPr>
          <a:xfrm>
            <a:off x="571680" y="571680"/>
            <a:ext cx="56880" cy="542520"/>
          </a:xfrm>
          <a:prstGeom prst="rect">
            <a:avLst/>
          </a:prstGeom>
          <a:solidFill>
            <a:srgbClr val="B901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49;p16"/>
          <p:cNvSpPr/>
          <p:nvPr/>
        </p:nvSpPr>
        <p:spPr>
          <a:xfrm>
            <a:off x="628560" y="1343160"/>
            <a:ext cx="734904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003F6C"/>
                </a:solidFill>
                <a:effectLst/>
                <a:uFillTx/>
                <a:latin typeface="Poppins Medium"/>
                <a:ea typeface="Poppins Medium"/>
              </a:rPr>
              <a:t>The reference study try to tackle these issues : 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54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Google Shape;155;p17"/>
          <p:cNvSpPr/>
          <p:nvPr/>
        </p:nvSpPr>
        <p:spPr>
          <a:xfrm>
            <a:off x="6334200" y="2709720"/>
            <a:ext cx="555012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003F6C"/>
                </a:solidFill>
                <a:effectLst/>
                <a:uFillTx/>
                <a:latin typeface="Poppins Medium"/>
                <a:ea typeface="Poppins Medium"/>
              </a:rPr>
              <a:t>The LSL-Net strategy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56;p17"/>
          <p:cNvSpPr/>
          <p:nvPr/>
        </p:nvSpPr>
        <p:spPr>
          <a:xfrm>
            <a:off x="6334200" y="3195720"/>
            <a:ext cx="5285880" cy="83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The study  focus on low-altitude small target optimization. The reference paper targets lightweight execution with the ambition to keep track of complex spatial features.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57;p17"/>
          <p:cNvSpPr/>
          <p:nvPr/>
        </p:nvSpPr>
        <p:spPr>
          <a:xfrm>
            <a:off x="6334200" y="4110120"/>
            <a:ext cx="528588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Through differents pillars blocks, it establishes a custom architecture that capture target traits while avoiding computational cost.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58;p17"/>
          <p:cNvSpPr/>
          <p:nvPr/>
        </p:nvSpPr>
        <p:spPr>
          <a:xfrm>
            <a:off x="714240" y="571680"/>
            <a:ext cx="11450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The Challenge of Small Objects</a:t>
            </a:r>
            <a:endParaRPr lang="fr-F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59;p17"/>
          <p:cNvSpPr/>
          <p:nvPr/>
        </p:nvSpPr>
        <p:spPr>
          <a:xfrm>
            <a:off x="571680" y="571680"/>
            <a:ext cx="56880" cy="542520"/>
          </a:xfrm>
          <a:prstGeom prst="rect">
            <a:avLst/>
          </a:prstGeom>
          <a:solidFill>
            <a:srgbClr val="B901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60;p17"/>
          <p:cNvSpPr/>
          <p:nvPr/>
        </p:nvSpPr>
        <p:spPr>
          <a:xfrm>
            <a:off x="628560" y="1343160"/>
            <a:ext cx="1125576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0" u="sng" strike="noStrike">
                <a:solidFill>
                  <a:srgbClr val="003F6C"/>
                </a:solidFill>
                <a:effectLst/>
                <a:uFillTx/>
                <a:latin typeface="Poppins Medium"/>
                <a:ea typeface="Poppins Medium"/>
              </a:rPr>
              <a:t>Reference study :</a:t>
            </a:r>
            <a:r>
              <a:rPr lang="en-US" sz="1950" b="0" u="none" strike="noStrike">
                <a:solidFill>
                  <a:srgbClr val="003F6C"/>
                </a:solidFill>
                <a:effectLst/>
                <a:uFillTx/>
                <a:latin typeface="Poppins Medium"/>
                <a:ea typeface="Poppins Medium"/>
              </a:rPr>
              <a:t>  “</a:t>
            </a:r>
            <a:r>
              <a:rPr lang="en-US" sz="1950" b="0" i="1" u="none" strike="noStrike">
                <a:solidFill>
                  <a:srgbClr val="003F6C"/>
                </a:solidFill>
                <a:effectLst/>
                <a:uFillTx/>
                <a:latin typeface="Poppins Medium"/>
                <a:ea typeface="Poppins Medium"/>
              </a:rPr>
              <a:t>Low-altitude small-sized object detection using lightweight feature-enhanced convolutional neural network.” </a:t>
            </a:r>
            <a:r>
              <a:rPr lang="en-US" sz="12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Y. Tao, Z. Zongyang, Z. Jun, C. Xinghua, and Z. Fuqiang (2021)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161;p17"/>
          <p:cNvPicPr/>
          <p:nvPr/>
        </p:nvPicPr>
        <p:blipFill>
          <a:blip r:embed="rId2"/>
          <a:stretch/>
        </p:blipFill>
        <p:spPr>
          <a:xfrm>
            <a:off x="470880" y="2257200"/>
            <a:ext cx="5463360" cy="305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66;p18" descr="image.png"/>
          <p:cNvPicPr/>
          <p:nvPr/>
        </p:nvPicPr>
        <p:blipFill>
          <a:blip r:embed="rId1"/>
          <a:stretch/>
        </p:blipFill>
        <p:spPr>
          <a:xfrm>
            <a:off x="571680" y="1355040"/>
            <a:ext cx="3492360" cy="273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167;p18" descr="image.png"/>
          <p:cNvPicPr/>
          <p:nvPr/>
        </p:nvPicPr>
        <p:blipFill>
          <a:blip r:embed="rId2"/>
          <a:stretch/>
        </p:blipFill>
        <p:spPr>
          <a:xfrm>
            <a:off x="4349880" y="1381680"/>
            <a:ext cx="3492360" cy="273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168;p18" descr="image.png"/>
          <p:cNvPicPr/>
          <p:nvPr/>
        </p:nvPicPr>
        <p:blipFill>
          <a:blip r:embed="rId3"/>
          <a:stretch/>
        </p:blipFill>
        <p:spPr>
          <a:xfrm>
            <a:off x="8128080" y="1434960"/>
            <a:ext cx="3492360" cy="273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Google Shape;169;p18"/>
          <p:cNvSpPr/>
          <p:nvPr/>
        </p:nvSpPr>
        <p:spPr>
          <a:xfrm>
            <a:off x="809640" y="2193120"/>
            <a:ext cx="316692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003F6C"/>
                </a:solidFill>
                <a:effectLst/>
                <a:uFillTx/>
                <a:latin typeface="Poppins Medium"/>
                <a:ea typeface="Poppins Medium"/>
              </a:rPr>
              <a:t>LSM Module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70;p18"/>
          <p:cNvSpPr/>
          <p:nvPr/>
        </p:nvSpPr>
        <p:spPr>
          <a:xfrm>
            <a:off x="809640" y="2679120"/>
            <a:ext cx="3015720" cy="14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Primary feature extraction. 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Reduced computational complexity but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improved  feature-representation capability of the system.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71;p18"/>
          <p:cNvSpPr/>
          <p:nvPr/>
        </p:nvSpPr>
        <p:spPr>
          <a:xfrm>
            <a:off x="4587840" y="2219760"/>
            <a:ext cx="316692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003F6C"/>
                </a:solidFill>
                <a:effectLst/>
                <a:uFillTx/>
                <a:latin typeface="Poppins Medium"/>
                <a:ea typeface="Poppins Medium"/>
              </a:rPr>
              <a:t>EFM Module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72;p18"/>
          <p:cNvSpPr/>
          <p:nvPr/>
        </p:nvSpPr>
        <p:spPr>
          <a:xfrm>
            <a:off x="4587840" y="2705760"/>
            <a:ext cx="301572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Feature map reduction and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multiscale detection optimization.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73;p18"/>
          <p:cNvSpPr/>
          <p:nvPr/>
        </p:nvSpPr>
        <p:spPr>
          <a:xfrm>
            <a:off x="8366400" y="2273040"/>
            <a:ext cx="316692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003F6C"/>
                </a:solidFill>
                <a:effectLst/>
                <a:uFillTx/>
                <a:latin typeface="Poppins Medium"/>
                <a:ea typeface="Poppins Medium"/>
              </a:rPr>
              <a:t>ADM Module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74;p18"/>
          <p:cNvSpPr/>
          <p:nvPr/>
        </p:nvSpPr>
        <p:spPr>
          <a:xfrm>
            <a:off x="8366400" y="2759040"/>
            <a:ext cx="3015720" cy="83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Based on object size it trigger predictions on the most optimal receptive layer.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175;p18" descr="image.png"/>
          <p:cNvPicPr/>
          <p:nvPr/>
        </p:nvPicPr>
        <p:blipFill>
          <a:blip r:embed="rId4"/>
          <a:stretch/>
        </p:blipFill>
        <p:spPr>
          <a:xfrm>
            <a:off x="809640" y="167904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Google Shape;176;p18" descr="image.png"/>
          <p:cNvPicPr/>
          <p:nvPr/>
        </p:nvPicPr>
        <p:blipFill>
          <a:blip r:embed="rId5"/>
          <a:stretch/>
        </p:blipFill>
        <p:spPr>
          <a:xfrm>
            <a:off x="4587840" y="170568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177;p18" descr="image.png"/>
          <p:cNvPicPr/>
          <p:nvPr/>
        </p:nvPicPr>
        <p:blipFill>
          <a:blip r:embed="rId6"/>
          <a:stretch/>
        </p:blipFill>
        <p:spPr>
          <a:xfrm>
            <a:off x="8366400" y="175896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Google Shape;178;p18"/>
          <p:cNvSpPr/>
          <p:nvPr/>
        </p:nvSpPr>
        <p:spPr>
          <a:xfrm>
            <a:off x="714240" y="571680"/>
            <a:ext cx="1145124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The Three Architectural Pillars</a:t>
            </a:r>
            <a:endParaRPr lang="fr-F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79;p18"/>
          <p:cNvSpPr/>
          <p:nvPr/>
        </p:nvSpPr>
        <p:spPr>
          <a:xfrm>
            <a:off x="571680" y="571680"/>
            <a:ext cx="56880" cy="542520"/>
          </a:xfrm>
          <a:prstGeom prst="rect">
            <a:avLst/>
          </a:prstGeom>
          <a:solidFill>
            <a:srgbClr val="B901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" name="Google Shape;180;p18"/>
          <p:cNvPicPr/>
          <p:nvPr/>
        </p:nvPicPr>
        <p:blipFill>
          <a:blip r:embed="rId7"/>
          <a:stretch/>
        </p:blipFill>
        <p:spPr>
          <a:xfrm>
            <a:off x="505080" y="4227840"/>
            <a:ext cx="3625200" cy="238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Google Shape;181;p18"/>
          <p:cNvPicPr/>
          <p:nvPr/>
        </p:nvPicPr>
        <p:blipFill>
          <a:blip r:embed="rId8"/>
          <a:stretch/>
        </p:blipFill>
        <p:spPr>
          <a:xfrm>
            <a:off x="4812120" y="4294440"/>
            <a:ext cx="2718000" cy="243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Google Shape;182;p18"/>
          <p:cNvPicPr/>
          <p:nvPr/>
        </p:nvPicPr>
        <p:blipFill>
          <a:blip r:embed="rId9"/>
          <a:stretch/>
        </p:blipFill>
        <p:spPr>
          <a:xfrm>
            <a:off x="9040320" y="4294440"/>
            <a:ext cx="1667520" cy="243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87;p19" descr="image.png"/>
          <p:cNvPicPr/>
          <p:nvPr/>
        </p:nvPicPr>
        <p:blipFill>
          <a:blip r:embed="rId1"/>
          <a:stretch/>
        </p:blipFill>
        <p:spPr>
          <a:xfrm>
            <a:off x="4395960" y="1969200"/>
            <a:ext cx="3515040" cy="85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Google Shape;188;p19"/>
          <p:cNvSpPr/>
          <p:nvPr/>
        </p:nvSpPr>
        <p:spPr>
          <a:xfrm>
            <a:off x="1809720" y="1216800"/>
            <a:ext cx="85723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Standard Mean Squared Error (MSE) treats bounding box coordinates as isolated values, creating geometric issues. CIoU remedies this by including intersection areas, center-point distances, and aspect ratios: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Google Shape;189;p19" descr="image.png"/>
          <p:cNvPicPr/>
          <p:nvPr/>
        </p:nvPicPr>
        <p:blipFill>
          <a:blip r:embed="rId2"/>
          <a:stretch/>
        </p:blipFill>
        <p:spPr>
          <a:xfrm>
            <a:off x="4549320" y="2207520"/>
            <a:ext cx="3150000" cy="37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Google Shape;190;p19"/>
          <p:cNvSpPr/>
          <p:nvPr/>
        </p:nvSpPr>
        <p:spPr>
          <a:xfrm>
            <a:off x="571680" y="3249720"/>
            <a:ext cx="528588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5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• Overlap (IoU):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Area ratio of predicted box overlap.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91;p19"/>
          <p:cNvSpPr/>
          <p:nvPr/>
        </p:nvSpPr>
        <p:spPr>
          <a:xfrm>
            <a:off x="571680" y="3649680"/>
            <a:ext cx="528588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5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• Distance (ρ):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Euclidean distance between center points.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92;p19"/>
          <p:cNvSpPr/>
          <p:nvPr/>
        </p:nvSpPr>
        <p:spPr>
          <a:xfrm>
            <a:off x="6334200" y="3249720"/>
            <a:ext cx="528588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• Diagonals (c):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Minimum bounding box diagonal covering both.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93;p19"/>
          <p:cNvSpPr/>
          <p:nvPr/>
        </p:nvSpPr>
        <p:spPr>
          <a:xfrm>
            <a:off x="6334200" y="3649680"/>
            <a:ext cx="528588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• Aspect Ratio Penalty (av):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Measures the consistency of the aspect ratio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94;p19"/>
          <p:cNvSpPr/>
          <p:nvPr/>
        </p:nvSpPr>
        <p:spPr>
          <a:xfrm>
            <a:off x="714240" y="571680"/>
            <a:ext cx="11450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Loss function choice</a:t>
            </a:r>
            <a:endParaRPr lang="fr-F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95;p19"/>
          <p:cNvSpPr/>
          <p:nvPr/>
        </p:nvSpPr>
        <p:spPr>
          <a:xfrm>
            <a:off x="571680" y="571680"/>
            <a:ext cx="56880" cy="542520"/>
          </a:xfrm>
          <a:prstGeom prst="rect">
            <a:avLst/>
          </a:prstGeom>
          <a:solidFill>
            <a:srgbClr val="B901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9" name="Google Shape;196;p19"/>
          <p:cNvPicPr/>
          <p:nvPr/>
        </p:nvPicPr>
        <p:blipFill>
          <a:blip r:embed="rId3"/>
          <a:stretch/>
        </p:blipFill>
        <p:spPr>
          <a:xfrm>
            <a:off x="4048560" y="5053680"/>
            <a:ext cx="4209840" cy="139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Google Shape;197;p19"/>
          <p:cNvSpPr/>
          <p:nvPr/>
        </p:nvSpPr>
        <p:spPr>
          <a:xfrm>
            <a:off x="1867320" y="4351680"/>
            <a:ext cx="85723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This first loss is summed with a classical binary cross entropy loss differentiating classification in cells containing an object and not containing an object. 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202;p20"/>
          <p:cNvSpPr/>
          <p:nvPr/>
        </p:nvSpPr>
        <p:spPr>
          <a:xfrm>
            <a:off x="714240" y="571680"/>
            <a:ext cx="11450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Anchor mechanism and K-means clustering</a:t>
            </a:r>
            <a:endParaRPr lang="fr-F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203;p20"/>
          <p:cNvSpPr/>
          <p:nvPr/>
        </p:nvSpPr>
        <p:spPr>
          <a:xfrm>
            <a:off x="571680" y="571680"/>
            <a:ext cx="56880" cy="542520"/>
          </a:xfrm>
          <a:prstGeom prst="rect">
            <a:avLst/>
          </a:prstGeom>
          <a:solidFill>
            <a:srgbClr val="B901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04;p20"/>
          <p:cNvSpPr/>
          <p:nvPr/>
        </p:nvSpPr>
        <p:spPr>
          <a:xfrm>
            <a:off x="628920" y="1279080"/>
            <a:ext cx="4498920" cy="48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 the reference study K-means clustering on the dataset is use to determine anchors for the ADM. 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These anchors are pre-defined bounding boxes that serve as templates. 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network does not predict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box from scratch; instead, it predicts the refinements pre computed anchors.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→   Shorten the optimization.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 wasn’t able to understand where and how the K-means clustering results are shared to the detection algorithm so I wasn’t able to implement this specific part.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Google Shape;205;p20"/>
          <p:cNvPicPr/>
          <p:nvPr/>
        </p:nvPicPr>
        <p:blipFill>
          <a:blip r:embed="rId1"/>
          <a:stretch/>
        </p:blipFill>
        <p:spPr>
          <a:xfrm>
            <a:off x="5452200" y="1773000"/>
            <a:ext cx="6611760" cy="388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Google Shape;206;p20"/>
          <p:cNvSpPr/>
          <p:nvPr/>
        </p:nvSpPr>
        <p:spPr>
          <a:xfrm>
            <a:off x="9968040" y="6631920"/>
            <a:ext cx="23965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69000"/>
              </a:lnSpc>
              <a:spcBef>
                <a:spcPts val="2701"/>
              </a:spcBef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K-Means Clustering, </a:t>
            </a:r>
            <a:r>
              <a:rPr lang="en-US" sz="800" b="0" u="sng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  <a:hlinkClick r:id="rId2"/>
              </a:rPr>
              <a:t>Jacob Bumgarner, Ph.D.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211;p21" descr="image.png"/>
          <p:cNvPicPr/>
          <p:nvPr/>
        </p:nvPicPr>
        <p:blipFill>
          <a:blip r:embed="rId1"/>
          <a:stretch/>
        </p:blipFill>
        <p:spPr>
          <a:xfrm>
            <a:off x="571680" y="5240520"/>
            <a:ext cx="2540880" cy="150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Google Shape;212;p21" descr="image.png"/>
          <p:cNvPicPr/>
          <p:nvPr/>
        </p:nvPicPr>
        <p:blipFill>
          <a:blip r:embed="rId2"/>
          <a:stretch/>
        </p:blipFill>
        <p:spPr>
          <a:xfrm>
            <a:off x="3407400" y="5240520"/>
            <a:ext cx="2540880" cy="129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Google Shape;213;p21" descr="image.png"/>
          <p:cNvPicPr/>
          <p:nvPr/>
        </p:nvPicPr>
        <p:blipFill>
          <a:blip r:embed="rId3"/>
          <a:stretch/>
        </p:blipFill>
        <p:spPr>
          <a:xfrm>
            <a:off x="6243480" y="5240520"/>
            <a:ext cx="2540880" cy="150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Google Shape;214;p21" descr="image.png"/>
          <p:cNvPicPr/>
          <p:nvPr/>
        </p:nvPicPr>
        <p:blipFill>
          <a:blip r:embed="rId4"/>
          <a:stretch/>
        </p:blipFill>
        <p:spPr>
          <a:xfrm>
            <a:off x="9079200" y="5240520"/>
            <a:ext cx="2540880" cy="129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Google Shape;215;p21"/>
          <p:cNvSpPr/>
          <p:nvPr/>
        </p:nvSpPr>
        <p:spPr>
          <a:xfrm>
            <a:off x="1852560" y="4464720"/>
            <a:ext cx="848628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Then, a rigorous  dataset split was established to secure valid threshold calibrations and ensure robust metrics: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216;p21"/>
          <p:cNvSpPr/>
          <p:nvPr/>
        </p:nvSpPr>
        <p:spPr>
          <a:xfrm>
            <a:off x="571680" y="4954680"/>
            <a:ext cx="11048760" cy="3780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217;p21"/>
          <p:cNvSpPr/>
          <p:nvPr/>
        </p:nvSpPr>
        <p:spPr>
          <a:xfrm>
            <a:off x="658080" y="5383440"/>
            <a:ext cx="236772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FF"/>
                </a:solidFill>
                <a:effectLst/>
                <a:uFillTx/>
                <a:latin typeface="Poppins Medium"/>
                <a:ea typeface="Poppins Medium"/>
              </a:rPr>
              <a:t>Training (60%)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218;p21"/>
          <p:cNvSpPr/>
          <p:nvPr/>
        </p:nvSpPr>
        <p:spPr>
          <a:xfrm>
            <a:off x="714240" y="5745240"/>
            <a:ext cx="225504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To train the model.</a:t>
            </a:r>
            <a:endParaRPr lang="fr-F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19;p21"/>
          <p:cNvSpPr/>
          <p:nvPr/>
        </p:nvSpPr>
        <p:spPr>
          <a:xfrm>
            <a:off x="3493800" y="5383440"/>
            <a:ext cx="236772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FF"/>
                </a:solidFill>
                <a:effectLst/>
                <a:uFillTx/>
                <a:latin typeface="Poppins Medium"/>
                <a:ea typeface="Poppins Medium"/>
              </a:rPr>
              <a:t>Validation 1 (20%)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20;p21"/>
          <p:cNvSpPr/>
          <p:nvPr/>
        </p:nvSpPr>
        <p:spPr>
          <a:xfrm>
            <a:off x="3550320" y="5745240"/>
            <a:ext cx="2255040" cy="69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Dedicated exclusively to calibrating prediction thresholds, targeting a minimum sensitivity floor of 50%.</a:t>
            </a:r>
            <a:endParaRPr lang="fr-F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21;p21"/>
          <p:cNvSpPr/>
          <p:nvPr/>
        </p:nvSpPr>
        <p:spPr>
          <a:xfrm>
            <a:off x="6329880" y="5383440"/>
            <a:ext cx="236772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FF"/>
                </a:solidFill>
                <a:effectLst/>
                <a:uFillTx/>
                <a:latin typeface="Poppins Medium"/>
                <a:ea typeface="Poppins Medium"/>
              </a:rPr>
              <a:t>Validation 2 (20%)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22;p21"/>
          <p:cNvSpPr/>
          <p:nvPr/>
        </p:nvSpPr>
        <p:spPr>
          <a:xfrm>
            <a:off x="6386040" y="5745240"/>
            <a:ext cx="2255040" cy="95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Reserved for cross-model validation and evaluating metrics (CIoU, Precision, Sensitivity, Inference speed).</a:t>
            </a:r>
            <a:endParaRPr lang="fr-F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23;p21"/>
          <p:cNvSpPr/>
          <p:nvPr/>
        </p:nvSpPr>
        <p:spPr>
          <a:xfrm>
            <a:off x="9165600" y="5383440"/>
            <a:ext cx="236772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00FF"/>
                </a:solidFill>
                <a:effectLst/>
                <a:uFillTx/>
                <a:latin typeface="Poppins Medium"/>
                <a:ea typeface="Poppins Medium"/>
              </a:rPr>
              <a:t>Video Benchmark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24;p21"/>
          <p:cNvSpPr/>
          <p:nvPr/>
        </p:nvSpPr>
        <p:spPr>
          <a:xfrm>
            <a:off x="9222120" y="5745240"/>
            <a:ext cx="2255040" cy="69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Real-world testing sequences containing critical false targets like seagulls, waves, and clouds.</a:t>
            </a:r>
            <a:endParaRPr lang="fr-F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25;p21"/>
          <p:cNvSpPr/>
          <p:nvPr/>
        </p:nvSpPr>
        <p:spPr>
          <a:xfrm>
            <a:off x="714240" y="571680"/>
            <a:ext cx="11450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Dataset acquisition and processing</a:t>
            </a:r>
            <a:endParaRPr lang="fr-F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26;p21"/>
          <p:cNvSpPr/>
          <p:nvPr/>
        </p:nvSpPr>
        <p:spPr>
          <a:xfrm>
            <a:off x="571680" y="571680"/>
            <a:ext cx="56880" cy="542520"/>
          </a:xfrm>
          <a:prstGeom prst="rect">
            <a:avLst/>
          </a:prstGeom>
          <a:solidFill>
            <a:srgbClr val="B901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27;p21"/>
          <p:cNvSpPr/>
          <p:nvPr/>
        </p:nvSpPr>
        <p:spPr>
          <a:xfrm>
            <a:off x="1668960" y="1247760"/>
            <a:ext cx="95418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I used two sources :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4280" algn="ctr">
              <a:lnSpc>
                <a:spcPct val="150000"/>
              </a:lnSpc>
              <a:buClr>
                <a:srgbClr val="334155"/>
              </a:buClr>
              <a:buFont typeface="Lato"/>
              <a:buChar char="-"/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FF"/>
                </a:solidFill>
                <a:effectLst/>
                <a:uFillTx/>
                <a:latin typeface="Lato"/>
                <a:ea typeface="Lato"/>
              </a:rPr>
              <a:t>Primary Image Dataset</a:t>
            </a:r>
            <a:r>
              <a:rPr lang="en-US" sz="1350" b="0" u="none" strike="noStrike">
                <a:solidFill>
                  <a:srgbClr val="0000FF"/>
                </a:solidFill>
                <a:effectLst/>
                <a:uFillTx/>
                <a:latin typeface="Lato"/>
                <a:ea typeface="Lato"/>
              </a:rPr>
              <a:t> 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Dataset compiled by Mehdi Özel,  consisting of 1,359 high-quality images of drones.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4280" algn="ctr">
              <a:lnSpc>
                <a:spcPct val="150000"/>
              </a:lnSpc>
              <a:buClr>
                <a:srgbClr val="334155"/>
              </a:buClr>
              <a:buFont typeface="Lato"/>
              <a:buChar char="-"/>
              <a:tabLst>
                <a:tab pos="0" algn="l"/>
              </a:tabLst>
            </a:pPr>
            <a:r>
              <a:rPr lang="en-US" sz="1350" b="1" u="none" strike="noStrike">
                <a:solidFill>
                  <a:srgbClr val="FF00FF"/>
                </a:solidFill>
                <a:effectLst/>
                <a:uFillTx/>
                <a:latin typeface="Lato"/>
                <a:ea typeface="Lato"/>
              </a:rPr>
              <a:t>Video Test Bench 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 Royalty-free videos from Vecteezy. These videos include drones but also seagulls, waves, and clouds,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>
              <a:lnSpc>
                <a:spcPct val="150000"/>
              </a:lnSpc>
              <a:tabLst>
                <a:tab pos="0" algn="l"/>
              </a:tabLst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Google Shape;228;p21"/>
          <p:cNvPicPr/>
          <p:nvPr/>
        </p:nvPicPr>
        <p:blipFill>
          <a:blip r:embed="rId5"/>
          <a:stretch/>
        </p:blipFill>
        <p:spPr>
          <a:xfrm>
            <a:off x="460800" y="2241000"/>
            <a:ext cx="2651760" cy="176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Google Shape;229;p21"/>
          <p:cNvPicPr/>
          <p:nvPr/>
        </p:nvPicPr>
        <p:blipFill>
          <a:blip r:embed="rId6"/>
          <a:stretch/>
        </p:blipFill>
        <p:spPr>
          <a:xfrm>
            <a:off x="3407400" y="2241000"/>
            <a:ext cx="2651760" cy="176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Google Shape;230;p21"/>
          <p:cNvPicPr/>
          <p:nvPr/>
        </p:nvPicPr>
        <p:blipFill>
          <a:blip r:embed="rId7"/>
          <a:stretch/>
        </p:blipFill>
        <p:spPr>
          <a:xfrm>
            <a:off x="7801920" y="2189160"/>
            <a:ext cx="3508560" cy="182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Google Shape;231;p21"/>
          <p:cNvSpPr/>
          <p:nvPr/>
        </p:nvSpPr>
        <p:spPr>
          <a:xfrm>
            <a:off x="1879200" y="3957840"/>
            <a:ext cx="314244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Samples from the Primary image dataset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32;p21"/>
          <p:cNvSpPr/>
          <p:nvPr/>
        </p:nvSpPr>
        <p:spPr>
          <a:xfrm>
            <a:off x="8094600" y="4009680"/>
            <a:ext cx="32119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Frame from a video of the Video test bench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237;p22"/>
          <p:cNvSpPr/>
          <p:nvPr/>
        </p:nvSpPr>
        <p:spPr>
          <a:xfrm>
            <a:off x="571680" y="2200320"/>
            <a:ext cx="528588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To prevent overfitting on the 1,359-image set, custom augmentation steps were integrated based on Albumentation doc :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238;p22"/>
          <p:cNvSpPr/>
          <p:nvPr/>
        </p:nvSpPr>
        <p:spPr>
          <a:xfrm>
            <a:off x="857160" y="2857680"/>
            <a:ext cx="50004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Spatial Transforms: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Horizontal flips, shifts, scales, and rotations mimic real-world flight dynamics.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239;p22"/>
          <p:cNvSpPr/>
          <p:nvPr/>
        </p:nvSpPr>
        <p:spPr>
          <a:xfrm>
            <a:off x="857160" y="3514680"/>
            <a:ext cx="500040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Photometric changes: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Brightness and contrast shifts simulate different times of day and weather conditions.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40;p22"/>
          <p:cNvSpPr/>
          <p:nvPr/>
        </p:nvSpPr>
        <p:spPr>
          <a:xfrm>
            <a:off x="857160" y="4172040"/>
            <a:ext cx="5000400" cy="83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Pixel Dropout: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 Mimic sensors issues noise often found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in real-time video feeds.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Google Shape;241;p22" descr="image.png"/>
          <p:cNvPicPr/>
          <p:nvPr/>
        </p:nvPicPr>
        <p:blipFill>
          <a:blip r:embed="rId1"/>
          <a:stretch/>
        </p:blipFill>
        <p:spPr>
          <a:xfrm>
            <a:off x="571680" y="2890800"/>
            <a:ext cx="1710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Google Shape;242;p22" descr="image.png"/>
          <p:cNvPicPr/>
          <p:nvPr/>
        </p:nvPicPr>
        <p:blipFill>
          <a:blip r:embed="rId2"/>
          <a:stretch/>
        </p:blipFill>
        <p:spPr>
          <a:xfrm>
            <a:off x="571680" y="3548160"/>
            <a:ext cx="1710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Google Shape;243;p22" descr="image.png"/>
          <p:cNvPicPr/>
          <p:nvPr/>
        </p:nvPicPr>
        <p:blipFill>
          <a:blip r:embed="rId3"/>
          <a:stretch/>
        </p:blipFill>
        <p:spPr>
          <a:xfrm>
            <a:off x="571680" y="4205160"/>
            <a:ext cx="17100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Google Shape;244;p22"/>
          <p:cNvSpPr/>
          <p:nvPr/>
        </p:nvSpPr>
        <p:spPr>
          <a:xfrm>
            <a:off x="571680" y="571680"/>
            <a:ext cx="56880" cy="542520"/>
          </a:xfrm>
          <a:prstGeom prst="rect">
            <a:avLst/>
          </a:prstGeom>
          <a:solidFill>
            <a:srgbClr val="B901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45;p22"/>
          <p:cNvSpPr/>
          <p:nvPr/>
        </p:nvSpPr>
        <p:spPr>
          <a:xfrm>
            <a:off x="743040" y="571680"/>
            <a:ext cx="114224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Dataset acquisition and processing</a:t>
            </a:r>
            <a:endParaRPr lang="fr-F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Google Shape;246;p22"/>
          <p:cNvPicPr/>
          <p:nvPr/>
        </p:nvPicPr>
        <p:blipFill>
          <a:blip r:embed="rId4"/>
          <a:stretch/>
        </p:blipFill>
        <p:spPr>
          <a:xfrm>
            <a:off x="6985080" y="1249920"/>
            <a:ext cx="4533480" cy="454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Google Shape;247;p22"/>
          <p:cNvSpPr/>
          <p:nvPr/>
        </p:nvSpPr>
        <p:spPr>
          <a:xfrm>
            <a:off x="7853760" y="5793120"/>
            <a:ext cx="2796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Example of augmented sample.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252;p23" descr="image.png"/>
          <p:cNvPicPr/>
          <p:nvPr/>
        </p:nvPicPr>
        <p:blipFill>
          <a:blip r:embed="rId1"/>
          <a:stretch/>
        </p:blipFill>
        <p:spPr>
          <a:xfrm>
            <a:off x="571680" y="2894400"/>
            <a:ext cx="2540880" cy="129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Google Shape;253;p23" descr="image.png"/>
          <p:cNvPicPr/>
          <p:nvPr/>
        </p:nvPicPr>
        <p:blipFill>
          <a:blip r:embed="rId2"/>
          <a:stretch/>
        </p:blipFill>
        <p:spPr>
          <a:xfrm>
            <a:off x="3407400" y="2894400"/>
            <a:ext cx="2540880" cy="129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Google Shape;254;p23" descr="image.png"/>
          <p:cNvPicPr/>
          <p:nvPr/>
        </p:nvPicPr>
        <p:blipFill>
          <a:blip r:embed="rId3"/>
          <a:stretch/>
        </p:blipFill>
        <p:spPr>
          <a:xfrm>
            <a:off x="6243480" y="2894400"/>
            <a:ext cx="2540880" cy="129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Google Shape;255;p23" descr="image.png"/>
          <p:cNvPicPr/>
          <p:nvPr/>
        </p:nvPicPr>
        <p:blipFill>
          <a:blip r:embed="rId4"/>
          <a:stretch/>
        </p:blipFill>
        <p:spPr>
          <a:xfrm>
            <a:off x="9079200" y="2894400"/>
            <a:ext cx="2540880" cy="129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Google Shape;256;p23"/>
          <p:cNvSpPr/>
          <p:nvPr/>
        </p:nvSpPr>
        <p:spPr>
          <a:xfrm>
            <a:off x="571680" y="2608560"/>
            <a:ext cx="11048760" cy="3780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57;p23"/>
          <p:cNvSpPr/>
          <p:nvPr/>
        </p:nvSpPr>
        <p:spPr>
          <a:xfrm>
            <a:off x="658080" y="3036960"/>
            <a:ext cx="236772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03F6C"/>
                </a:solidFill>
                <a:effectLst/>
                <a:uFillTx/>
                <a:latin typeface="Poppins Medium"/>
                <a:ea typeface="Poppins Medium"/>
              </a:rPr>
              <a:t>V0 / V1 Models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58;p23"/>
          <p:cNvSpPr/>
          <p:nvPr/>
        </p:nvSpPr>
        <p:spPr>
          <a:xfrm>
            <a:off x="714240" y="3399120"/>
            <a:ext cx="2255040" cy="69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1.3k Parameters. Baseline toy builds focusing on Loss selection and initial feature capture.</a:t>
            </a:r>
            <a:endParaRPr lang="fr-F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59;p23"/>
          <p:cNvSpPr/>
          <p:nvPr/>
        </p:nvSpPr>
        <p:spPr>
          <a:xfrm>
            <a:off x="3493800" y="3036960"/>
            <a:ext cx="236772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03F6C"/>
                </a:solidFill>
                <a:effectLst/>
                <a:uFillTx/>
                <a:latin typeface="Poppins Medium"/>
                <a:ea typeface="Poppins Medium"/>
              </a:rPr>
              <a:t>Model L1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60;p23"/>
          <p:cNvSpPr/>
          <p:nvPr/>
        </p:nvSpPr>
        <p:spPr>
          <a:xfrm>
            <a:off x="3550320" y="3399120"/>
            <a:ext cx="2255040" cy="69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3.9k Parameters. Integrated the Lightweight Search Module (LSM) to retain spatial precision.</a:t>
            </a:r>
            <a:endParaRPr lang="fr-F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61;p23"/>
          <p:cNvSpPr/>
          <p:nvPr/>
        </p:nvSpPr>
        <p:spPr>
          <a:xfrm>
            <a:off x="6329880" y="3036960"/>
            <a:ext cx="236772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03F6C"/>
                </a:solidFill>
                <a:effectLst/>
                <a:uFillTx/>
                <a:latin typeface="Poppins Medium"/>
                <a:ea typeface="Poppins Medium"/>
              </a:rPr>
              <a:t>Model LA1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262;p23"/>
          <p:cNvSpPr/>
          <p:nvPr/>
        </p:nvSpPr>
        <p:spPr>
          <a:xfrm>
            <a:off x="6386040" y="3399120"/>
            <a:ext cx="2255040" cy="69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38.8k Parameters. Incorporated the ADM block, introducing serious overfitting challenges.</a:t>
            </a:r>
            <a:endParaRPr lang="fr-F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63;p23"/>
          <p:cNvSpPr/>
          <p:nvPr/>
        </p:nvSpPr>
        <p:spPr>
          <a:xfrm>
            <a:off x="9165600" y="3036960"/>
            <a:ext cx="236772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03F6C"/>
                </a:solidFill>
                <a:effectLst/>
                <a:uFillTx/>
                <a:latin typeface="Poppins Medium"/>
                <a:ea typeface="Poppins Medium"/>
              </a:rPr>
              <a:t>Model LAC1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64;p23"/>
          <p:cNvSpPr/>
          <p:nvPr/>
        </p:nvSpPr>
        <p:spPr>
          <a:xfrm>
            <a:off x="9222120" y="3399120"/>
            <a:ext cx="2255040" cy="69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70.1k Parameters. Incorporates LSM, CSP structures, and the final ADM module.</a:t>
            </a:r>
            <a:endParaRPr lang="fr-F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65;p23"/>
          <p:cNvSpPr/>
          <p:nvPr/>
        </p:nvSpPr>
        <p:spPr>
          <a:xfrm>
            <a:off x="714240" y="571680"/>
            <a:ext cx="11450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Model development</a:t>
            </a:r>
            <a:endParaRPr lang="fr-F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66;p23"/>
          <p:cNvSpPr/>
          <p:nvPr/>
        </p:nvSpPr>
        <p:spPr>
          <a:xfrm>
            <a:off x="571680" y="571680"/>
            <a:ext cx="56880" cy="542520"/>
          </a:xfrm>
          <a:prstGeom prst="rect">
            <a:avLst/>
          </a:prstGeom>
          <a:solidFill>
            <a:srgbClr val="B901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71;p24"/>
          <p:cNvSpPr/>
          <p:nvPr/>
        </p:nvSpPr>
        <p:spPr>
          <a:xfrm>
            <a:off x="714240" y="571680"/>
            <a:ext cx="11450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Training environment and optimization strategy</a:t>
            </a:r>
            <a:endParaRPr lang="fr-F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72;p24"/>
          <p:cNvSpPr/>
          <p:nvPr/>
        </p:nvSpPr>
        <p:spPr>
          <a:xfrm>
            <a:off x="571680" y="571680"/>
            <a:ext cx="56880" cy="542520"/>
          </a:xfrm>
          <a:prstGeom prst="rect">
            <a:avLst/>
          </a:prstGeom>
          <a:solidFill>
            <a:srgbClr val="B901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6" name="Google Shape;273;p24"/>
          <p:cNvPicPr/>
          <p:nvPr/>
        </p:nvPicPr>
        <p:blipFill>
          <a:blip r:embed="rId1"/>
          <a:stretch/>
        </p:blipFill>
        <p:spPr>
          <a:xfrm>
            <a:off x="6300360" y="2585160"/>
            <a:ext cx="5582520" cy="227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Google Shape;274;p24"/>
          <p:cNvSpPr/>
          <p:nvPr/>
        </p:nvSpPr>
        <p:spPr>
          <a:xfrm>
            <a:off x="7920360" y="1774080"/>
            <a:ext cx="234180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sng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Adam optimizer :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75;p24"/>
          <p:cNvSpPr/>
          <p:nvPr/>
        </p:nvSpPr>
        <p:spPr>
          <a:xfrm>
            <a:off x="1108440" y="1774080"/>
            <a:ext cx="381996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sng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Hardware and software specifications :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Google Shape;276;p24" descr="image.png"/>
          <p:cNvPicPr/>
          <p:nvPr/>
        </p:nvPicPr>
        <p:blipFill>
          <a:blip r:embed="rId2"/>
          <a:stretch/>
        </p:blipFill>
        <p:spPr>
          <a:xfrm>
            <a:off x="381600" y="2670840"/>
            <a:ext cx="4302000" cy="218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Google Shape;277;p24"/>
          <p:cNvSpPr/>
          <p:nvPr/>
        </p:nvSpPr>
        <p:spPr>
          <a:xfrm>
            <a:off x="414360" y="2706120"/>
            <a:ext cx="415728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Intel Core i5-8250U @ 1.60GHz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Calibri"/>
              <a:buChar char="-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Python 3 with TensorFlow/Keras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82;p25"/>
          <p:cNvSpPr/>
          <p:nvPr/>
        </p:nvSpPr>
        <p:spPr>
          <a:xfrm>
            <a:off x="2495520" y="5946840"/>
            <a:ext cx="72007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130" b="0" i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*All metrics measured on the independent Validation Set 2 using standard CPU environment (i5-8250U @ 1.60GHz).</a:t>
            </a:r>
            <a:endParaRPr lang="fr-F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2" name="Google Shape;283;p25"/>
          <p:cNvGraphicFramePr/>
          <p:nvPr/>
        </p:nvGraphicFramePr>
        <p:xfrm>
          <a:off x="571680" y="2841840"/>
          <a:ext cx="11048760" cy="2961720"/>
        </p:xfrm>
        <a:graphic>
          <a:graphicData uri="http://schemas.openxmlformats.org/drawingml/2006/table">
            <a:tbl>
              <a:tblPr/>
              <a:tblGrid>
                <a:gridCol w="2104200"/>
                <a:gridCol w="1690200"/>
                <a:gridCol w="1544760"/>
                <a:gridCol w="1432440"/>
                <a:gridCol w="1398960"/>
                <a:gridCol w="1376640"/>
                <a:gridCol w="1500480"/>
              </a:tblGrid>
              <a:tr h="493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Model Variant</a:t>
                      </a:r>
                      <a:endParaRPr lang="fr-F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3F6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Parameters</a:t>
                      </a:r>
                      <a:endParaRPr lang="fr-F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3F6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Train Time</a:t>
                      </a:r>
                      <a:endParaRPr lang="fr-F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3F6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Inference</a:t>
                      </a:r>
                      <a:endParaRPr lang="fr-F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3F6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CIoU Loss</a:t>
                      </a:r>
                      <a:endParaRPr lang="fr-F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3F6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Precision</a:t>
                      </a:r>
                      <a:endParaRPr lang="fr-F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3F6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Sensitivity</a:t>
                      </a:r>
                      <a:endParaRPr lang="fr-F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3F6C"/>
                    </a:solidFill>
                  </a:tcPr>
                </a:tc>
              </a:tr>
              <a:tr h="493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V0</a:t>
                      </a: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 (MSE Loss)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1,309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330s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0.10s/pred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1.453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5.53%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50.68%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93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V1</a:t>
                      </a: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 (YOLO Loss)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1,309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350s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0.10s/pred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0.623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17.00%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57.82%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493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L1</a:t>
                      </a: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 (LSM Module)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3,939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1,975s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0.11s/pred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0.510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25.61%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53.74%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93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LA1</a:t>
                      </a: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 (ADM Module)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38,843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12,302s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0.11s/pred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0.541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34.19%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53.06%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493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LAC1 (Complete)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70,103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18,130s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0.12s/pred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0.609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33.62%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65.31%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BD5E1"/>
                    </a:solidFill>
                  </a:tcPr>
                </a:tc>
              </a:tr>
            </a:tbl>
          </a:graphicData>
        </a:graphic>
      </p:graphicFrame>
      <p:sp>
        <p:nvSpPr>
          <p:cNvPr id="213" name="Google Shape;284;p25"/>
          <p:cNvSpPr/>
          <p:nvPr/>
        </p:nvSpPr>
        <p:spPr>
          <a:xfrm>
            <a:off x="571680" y="3322800"/>
            <a:ext cx="210420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285;p25"/>
          <p:cNvSpPr/>
          <p:nvPr/>
        </p:nvSpPr>
        <p:spPr>
          <a:xfrm>
            <a:off x="2675880" y="3322800"/>
            <a:ext cx="168984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86;p25"/>
          <p:cNvSpPr/>
          <p:nvPr/>
        </p:nvSpPr>
        <p:spPr>
          <a:xfrm>
            <a:off x="4366080" y="3322800"/>
            <a:ext cx="154440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87;p25"/>
          <p:cNvSpPr/>
          <p:nvPr/>
        </p:nvSpPr>
        <p:spPr>
          <a:xfrm>
            <a:off x="5910840" y="3322800"/>
            <a:ext cx="143244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88;p25"/>
          <p:cNvSpPr/>
          <p:nvPr/>
        </p:nvSpPr>
        <p:spPr>
          <a:xfrm>
            <a:off x="7343640" y="3322800"/>
            <a:ext cx="139896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89;p25"/>
          <p:cNvSpPr/>
          <p:nvPr/>
        </p:nvSpPr>
        <p:spPr>
          <a:xfrm>
            <a:off x="8742960" y="3322800"/>
            <a:ext cx="137628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290;p25"/>
          <p:cNvSpPr/>
          <p:nvPr/>
        </p:nvSpPr>
        <p:spPr>
          <a:xfrm>
            <a:off x="10119960" y="3322800"/>
            <a:ext cx="150012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291;p25"/>
          <p:cNvSpPr/>
          <p:nvPr/>
        </p:nvSpPr>
        <p:spPr>
          <a:xfrm>
            <a:off x="571680" y="3818160"/>
            <a:ext cx="210420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292;p25"/>
          <p:cNvSpPr/>
          <p:nvPr/>
        </p:nvSpPr>
        <p:spPr>
          <a:xfrm>
            <a:off x="2675880" y="3818160"/>
            <a:ext cx="168984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293;p25"/>
          <p:cNvSpPr/>
          <p:nvPr/>
        </p:nvSpPr>
        <p:spPr>
          <a:xfrm>
            <a:off x="4366080" y="3818160"/>
            <a:ext cx="154440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294;p25"/>
          <p:cNvSpPr/>
          <p:nvPr/>
        </p:nvSpPr>
        <p:spPr>
          <a:xfrm>
            <a:off x="5910840" y="3818160"/>
            <a:ext cx="143244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295;p25"/>
          <p:cNvSpPr/>
          <p:nvPr/>
        </p:nvSpPr>
        <p:spPr>
          <a:xfrm>
            <a:off x="7343640" y="3818160"/>
            <a:ext cx="139896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296;p25"/>
          <p:cNvSpPr/>
          <p:nvPr/>
        </p:nvSpPr>
        <p:spPr>
          <a:xfrm>
            <a:off x="8742960" y="3818160"/>
            <a:ext cx="137628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297;p25"/>
          <p:cNvSpPr/>
          <p:nvPr/>
        </p:nvSpPr>
        <p:spPr>
          <a:xfrm>
            <a:off x="10119960" y="3818160"/>
            <a:ext cx="150012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298;p25"/>
          <p:cNvSpPr/>
          <p:nvPr/>
        </p:nvSpPr>
        <p:spPr>
          <a:xfrm>
            <a:off x="571680" y="4313520"/>
            <a:ext cx="210420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99;p25"/>
          <p:cNvSpPr/>
          <p:nvPr/>
        </p:nvSpPr>
        <p:spPr>
          <a:xfrm>
            <a:off x="2675880" y="4313520"/>
            <a:ext cx="168984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300;p25"/>
          <p:cNvSpPr/>
          <p:nvPr/>
        </p:nvSpPr>
        <p:spPr>
          <a:xfrm>
            <a:off x="4366080" y="4313520"/>
            <a:ext cx="154440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301;p25"/>
          <p:cNvSpPr/>
          <p:nvPr/>
        </p:nvSpPr>
        <p:spPr>
          <a:xfrm>
            <a:off x="5910840" y="4313520"/>
            <a:ext cx="143244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302;p25"/>
          <p:cNvSpPr/>
          <p:nvPr/>
        </p:nvSpPr>
        <p:spPr>
          <a:xfrm>
            <a:off x="7343640" y="4313520"/>
            <a:ext cx="139896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303;p25"/>
          <p:cNvSpPr/>
          <p:nvPr/>
        </p:nvSpPr>
        <p:spPr>
          <a:xfrm>
            <a:off x="8742960" y="4313520"/>
            <a:ext cx="137628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304;p25"/>
          <p:cNvSpPr/>
          <p:nvPr/>
        </p:nvSpPr>
        <p:spPr>
          <a:xfrm>
            <a:off x="10119960" y="4313520"/>
            <a:ext cx="150012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305;p25"/>
          <p:cNvSpPr/>
          <p:nvPr/>
        </p:nvSpPr>
        <p:spPr>
          <a:xfrm>
            <a:off x="571680" y="4808520"/>
            <a:ext cx="210420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306;p25"/>
          <p:cNvSpPr/>
          <p:nvPr/>
        </p:nvSpPr>
        <p:spPr>
          <a:xfrm>
            <a:off x="2675880" y="4808520"/>
            <a:ext cx="168984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307;p25"/>
          <p:cNvSpPr/>
          <p:nvPr/>
        </p:nvSpPr>
        <p:spPr>
          <a:xfrm>
            <a:off x="4366080" y="4808520"/>
            <a:ext cx="154440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308;p25"/>
          <p:cNvSpPr/>
          <p:nvPr/>
        </p:nvSpPr>
        <p:spPr>
          <a:xfrm>
            <a:off x="5910840" y="4808520"/>
            <a:ext cx="143244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309;p25"/>
          <p:cNvSpPr/>
          <p:nvPr/>
        </p:nvSpPr>
        <p:spPr>
          <a:xfrm>
            <a:off x="7343640" y="4808520"/>
            <a:ext cx="139896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310;p25"/>
          <p:cNvSpPr/>
          <p:nvPr/>
        </p:nvSpPr>
        <p:spPr>
          <a:xfrm>
            <a:off x="8742960" y="4808520"/>
            <a:ext cx="137628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311;p25"/>
          <p:cNvSpPr/>
          <p:nvPr/>
        </p:nvSpPr>
        <p:spPr>
          <a:xfrm>
            <a:off x="10119960" y="4808520"/>
            <a:ext cx="150012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312;p25"/>
          <p:cNvSpPr/>
          <p:nvPr/>
        </p:nvSpPr>
        <p:spPr>
          <a:xfrm>
            <a:off x="571680" y="5303880"/>
            <a:ext cx="210420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13;p25"/>
          <p:cNvSpPr/>
          <p:nvPr/>
        </p:nvSpPr>
        <p:spPr>
          <a:xfrm>
            <a:off x="2675880" y="5303880"/>
            <a:ext cx="168984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314;p25"/>
          <p:cNvSpPr/>
          <p:nvPr/>
        </p:nvSpPr>
        <p:spPr>
          <a:xfrm>
            <a:off x="4366080" y="5303880"/>
            <a:ext cx="154440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315;p25"/>
          <p:cNvSpPr/>
          <p:nvPr/>
        </p:nvSpPr>
        <p:spPr>
          <a:xfrm>
            <a:off x="5910840" y="5303880"/>
            <a:ext cx="143244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316;p25"/>
          <p:cNvSpPr/>
          <p:nvPr/>
        </p:nvSpPr>
        <p:spPr>
          <a:xfrm>
            <a:off x="7343640" y="5303880"/>
            <a:ext cx="139896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317;p25"/>
          <p:cNvSpPr/>
          <p:nvPr/>
        </p:nvSpPr>
        <p:spPr>
          <a:xfrm>
            <a:off x="8742960" y="5303880"/>
            <a:ext cx="137628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318;p25"/>
          <p:cNvSpPr/>
          <p:nvPr/>
        </p:nvSpPr>
        <p:spPr>
          <a:xfrm>
            <a:off x="10119960" y="5303880"/>
            <a:ext cx="1500120" cy="936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319;p25"/>
          <p:cNvSpPr/>
          <p:nvPr/>
        </p:nvSpPr>
        <p:spPr>
          <a:xfrm>
            <a:off x="714240" y="571680"/>
            <a:ext cx="11450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Metric results</a:t>
            </a:r>
            <a:endParaRPr lang="fr-F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320;p25"/>
          <p:cNvSpPr/>
          <p:nvPr/>
        </p:nvSpPr>
        <p:spPr>
          <a:xfrm>
            <a:off x="571680" y="571680"/>
            <a:ext cx="56880" cy="542520"/>
          </a:xfrm>
          <a:prstGeom prst="rect">
            <a:avLst/>
          </a:prstGeom>
          <a:solidFill>
            <a:srgbClr val="B901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21;p25"/>
          <p:cNvSpPr/>
          <p:nvPr/>
        </p:nvSpPr>
        <p:spPr>
          <a:xfrm>
            <a:off x="628560" y="1512360"/>
            <a:ext cx="10991520" cy="12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Insuring at least 50% sensitivity lead us to low precision performances even with more complex models.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The more advanced model don’t really improve CIoU which is unexpected. 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326;p26"/>
          <p:cNvSpPr/>
          <p:nvPr/>
        </p:nvSpPr>
        <p:spPr>
          <a:xfrm>
            <a:off x="714240" y="571680"/>
            <a:ext cx="11450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Quantitative results</a:t>
            </a:r>
            <a:endParaRPr lang="fr-F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327;p26"/>
          <p:cNvSpPr/>
          <p:nvPr/>
        </p:nvSpPr>
        <p:spPr>
          <a:xfrm>
            <a:off x="571680" y="571680"/>
            <a:ext cx="56880" cy="542520"/>
          </a:xfrm>
          <a:prstGeom prst="rect">
            <a:avLst/>
          </a:prstGeom>
          <a:solidFill>
            <a:srgbClr val="B901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3" name="Google Shape;328;p26"/>
          <p:cNvPicPr/>
          <p:nvPr/>
        </p:nvPicPr>
        <p:blipFill>
          <a:blip r:embed="rId1"/>
          <a:stretch/>
        </p:blipFill>
        <p:spPr>
          <a:xfrm>
            <a:off x="714240" y="3429000"/>
            <a:ext cx="2857680" cy="286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4" name="Google Shape;329;p26"/>
          <p:cNvPicPr/>
          <p:nvPr/>
        </p:nvPicPr>
        <p:blipFill>
          <a:blip r:embed="rId2"/>
          <a:stretch/>
        </p:blipFill>
        <p:spPr>
          <a:xfrm>
            <a:off x="4664520" y="3429000"/>
            <a:ext cx="2834280" cy="286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Google Shape;330;p26"/>
          <p:cNvPicPr/>
          <p:nvPr/>
        </p:nvPicPr>
        <p:blipFill>
          <a:blip r:embed="rId3"/>
          <a:stretch/>
        </p:blipFill>
        <p:spPr>
          <a:xfrm>
            <a:off x="8591040" y="3435120"/>
            <a:ext cx="2857680" cy="285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Google Shape;331;p26"/>
          <p:cNvSpPr/>
          <p:nvPr/>
        </p:nvSpPr>
        <p:spPr>
          <a:xfrm>
            <a:off x="787320" y="6195240"/>
            <a:ext cx="107326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Examples of predictions over frames of the test videos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332;p26"/>
          <p:cNvSpPr/>
          <p:nvPr/>
        </p:nvSpPr>
        <p:spPr>
          <a:xfrm>
            <a:off x="628920" y="1432800"/>
            <a:ext cx="10732680" cy="18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Disappointing results on the video benchmark :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2440">
              <a:lnSpc>
                <a:spcPct val="100000"/>
              </a:lnSpc>
              <a:buClr>
                <a:srgbClr val="003F6C"/>
              </a:buClr>
              <a:buFont typeface="Poppins"/>
              <a:buChar char="-"/>
              <a:tabLst>
                <a:tab pos="0" algn="l"/>
              </a:tabLst>
            </a:pPr>
            <a:r>
              <a:rPr lang="en-US" sz="19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The predicted bounding boxes are not precise when an object is detected.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2440">
              <a:lnSpc>
                <a:spcPct val="100000"/>
              </a:lnSpc>
              <a:buClr>
                <a:srgbClr val="003F6C"/>
              </a:buClr>
              <a:buFont typeface="Poppins"/>
              <a:buChar char="-"/>
              <a:tabLst>
                <a:tab pos="0" algn="l"/>
              </a:tabLst>
            </a:pPr>
            <a:r>
              <a:rPr lang="en-US" sz="19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The confidence level mainly stays low.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2440">
              <a:lnSpc>
                <a:spcPct val="100000"/>
              </a:lnSpc>
              <a:buClr>
                <a:srgbClr val="003F6C"/>
              </a:buClr>
              <a:buFont typeface="Poppins"/>
              <a:buChar char="-"/>
              <a:tabLst>
                <a:tab pos="0" algn="l"/>
              </a:tabLst>
            </a:pPr>
            <a:r>
              <a:rPr lang="en-US" sz="19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The model often detect objects in drone free background.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2440">
              <a:lnSpc>
                <a:spcPct val="100000"/>
              </a:lnSpc>
              <a:buClr>
                <a:srgbClr val="003F6C"/>
              </a:buClr>
              <a:buFont typeface="Poppins"/>
              <a:buChar char="-"/>
              <a:tabLst>
                <a:tab pos="0" algn="l"/>
              </a:tabLst>
            </a:pPr>
            <a:r>
              <a:rPr lang="en-US" sz="19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The model totally miss classified as drones flying objects such as birds.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2440">
              <a:lnSpc>
                <a:spcPct val="100000"/>
              </a:lnSpc>
              <a:buClr>
                <a:srgbClr val="003F6C"/>
              </a:buClr>
              <a:buFont typeface="Poppins"/>
              <a:buChar char="-"/>
              <a:tabLst>
                <a:tab pos="0" algn="l"/>
              </a:tabLst>
            </a:pPr>
            <a:r>
              <a:rPr lang="en-US" sz="19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The model displays a noticeable coordinates bias towards the center.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337;p27" descr="image.png"/>
          <p:cNvPicPr/>
          <p:nvPr/>
        </p:nvPicPr>
        <p:blipFill>
          <a:blip r:embed="rId1"/>
          <a:stretch/>
        </p:blipFill>
        <p:spPr>
          <a:xfrm>
            <a:off x="41400" y="1645200"/>
            <a:ext cx="3980880" cy="249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Google Shape;338;p27"/>
          <p:cNvSpPr/>
          <p:nvPr/>
        </p:nvSpPr>
        <p:spPr>
          <a:xfrm>
            <a:off x="256680" y="1948320"/>
            <a:ext cx="37285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29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Aggressive Channel Shrinkage</a:t>
            </a:r>
            <a:endParaRPr lang="fr-FR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339;p27"/>
          <p:cNvSpPr/>
          <p:nvPr/>
        </p:nvSpPr>
        <p:spPr>
          <a:xfrm>
            <a:off x="256680" y="2403360"/>
            <a:ext cx="3550320" cy="165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To run the model on CPU without running out of memory, convolution dimension have been dramatically reduced were reduced significantly. </a:t>
            </a:r>
            <a:endParaRPr lang="fr-FR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This uniform downscaling likely destroyed the valuable high-frequency spatial clues that the LSM blocks were designed to preserve.</a:t>
            </a:r>
            <a:endParaRPr lang="fr-FR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340;p27"/>
          <p:cNvSpPr/>
          <p:nvPr/>
        </p:nvSpPr>
        <p:spPr>
          <a:xfrm>
            <a:off x="256680" y="3243600"/>
            <a:ext cx="3550320" cy="2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341;p27"/>
          <p:cNvSpPr/>
          <p:nvPr/>
        </p:nvSpPr>
        <p:spPr>
          <a:xfrm>
            <a:off x="714240" y="571680"/>
            <a:ext cx="11450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Error analysis and improvements</a:t>
            </a:r>
            <a:endParaRPr lang="fr-F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342;p27"/>
          <p:cNvSpPr/>
          <p:nvPr/>
        </p:nvSpPr>
        <p:spPr>
          <a:xfrm>
            <a:off x="571680" y="571680"/>
            <a:ext cx="56880" cy="542520"/>
          </a:xfrm>
          <a:prstGeom prst="rect">
            <a:avLst/>
          </a:prstGeom>
          <a:solidFill>
            <a:srgbClr val="B901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343;p27"/>
          <p:cNvSpPr/>
          <p:nvPr/>
        </p:nvSpPr>
        <p:spPr>
          <a:xfrm>
            <a:off x="1794960" y="4208400"/>
            <a:ext cx="473760" cy="8143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8925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5680" tIns="85680" rIns="85680" bIns="85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344;p27"/>
          <p:cNvSpPr/>
          <p:nvPr/>
        </p:nvSpPr>
        <p:spPr>
          <a:xfrm>
            <a:off x="328320" y="5088600"/>
            <a:ext cx="3550320" cy="1159560"/>
          </a:xfrm>
          <a:prstGeom prst="rect">
            <a:avLst/>
          </a:prstGeom>
          <a:noFill/>
          <a:ln w="9525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5680" tIns="85680" rIns="85680" bIns="8568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7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Tune dimension reduction with more considerations for their impact</a:t>
            </a:r>
            <a:endParaRPr lang="fr-F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" name="Google Shape;345;p27" descr="image.png"/>
          <p:cNvPicPr/>
          <p:nvPr/>
        </p:nvPicPr>
        <p:blipFill>
          <a:blip r:embed="rId2"/>
          <a:stretch/>
        </p:blipFill>
        <p:spPr>
          <a:xfrm>
            <a:off x="4125240" y="1645200"/>
            <a:ext cx="3980880" cy="249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Google Shape;346;p27"/>
          <p:cNvSpPr/>
          <p:nvPr/>
        </p:nvSpPr>
        <p:spPr>
          <a:xfrm>
            <a:off x="4340520" y="1948320"/>
            <a:ext cx="37285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29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Architecture simplifications</a:t>
            </a:r>
            <a:endParaRPr lang="fr-FR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47;p27"/>
          <p:cNvSpPr/>
          <p:nvPr/>
        </p:nvSpPr>
        <p:spPr>
          <a:xfrm>
            <a:off x="4340520" y="2403360"/>
            <a:ext cx="3550320" cy="13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We only work on the first scale detector which is</a:t>
            </a:r>
            <a:endParaRPr lang="fr-FR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designed for the big objects.</a:t>
            </a:r>
            <a:endParaRPr lang="fr-FR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We didn’t implement the K-mean approach.</a:t>
            </a:r>
            <a:endParaRPr lang="fr-FR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fr-FR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fr-FR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348;p27"/>
          <p:cNvSpPr/>
          <p:nvPr/>
        </p:nvSpPr>
        <p:spPr>
          <a:xfrm>
            <a:off x="4340520" y="3243600"/>
            <a:ext cx="3550320" cy="2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349;p27"/>
          <p:cNvSpPr/>
          <p:nvPr/>
        </p:nvSpPr>
        <p:spPr>
          <a:xfrm>
            <a:off x="5878800" y="4208400"/>
            <a:ext cx="473760" cy="8143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8925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5680" tIns="85680" rIns="85680" bIns="85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50;p27"/>
          <p:cNvSpPr/>
          <p:nvPr/>
        </p:nvSpPr>
        <p:spPr>
          <a:xfrm>
            <a:off x="4412160" y="5088600"/>
            <a:ext cx="3550320" cy="1159560"/>
          </a:xfrm>
          <a:prstGeom prst="rect">
            <a:avLst/>
          </a:prstGeom>
          <a:noFill/>
          <a:ln w="9525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5680" tIns="85680" rIns="85680" bIns="8568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7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Implement these features from the reference study</a:t>
            </a:r>
            <a:endParaRPr lang="fr-F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2" name="Google Shape;351;p27" descr="image.png"/>
          <p:cNvPicPr/>
          <p:nvPr/>
        </p:nvPicPr>
        <p:blipFill>
          <a:blip r:embed="rId3"/>
          <a:stretch/>
        </p:blipFill>
        <p:spPr>
          <a:xfrm>
            <a:off x="8184240" y="1645200"/>
            <a:ext cx="3980880" cy="249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Google Shape;352;p27"/>
          <p:cNvSpPr/>
          <p:nvPr/>
        </p:nvSpPr>
        <p:spPr>
          <a:xfrm>
            <a:off x="8399520" y="1948320"/>
            <a:ext cx="37285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29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Miss constructed dataset</a:t>
            </a:r>
            <a:endParaRPr lang="fr-FR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53;p27"/>
          <p:cNvSpPr/>
          <p:nvPr/>
        </p:nvSpPr>
        <p:spPr>
          <a:xfrm>
            <a:off x="8399520" y="2403360"/>
            <a:ext cx="3550320" cy="10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Training dataset neither contains empty samples nor confusing objects samples . </a:t>
            </a:r>
            <a:endParaRPr lang="fr-FR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334155"/>
                </a:solidFill>
                <a:effectLst/>
                <a:uFillTx/>
                <a:latin typeface="Lato"/>
                <a:ea typeface="Lato"/>
              </a:rPr>
              <a:t>The labelisation of false friends such as birds, planes and clouds as not been implemented.</a:t>
            </a:r>
            <a:endParaRPr lang="fr-FR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54;p27"/>
          <p:cNvSpPr/>
          <p:nvPr/>
        </p:nvSpPr>
        <p:spPr>
          <a:xfrm>
            <a:off x="8399520" y="3243600"/>
            <a:ext cx="3550320" cy="2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55;p27"/>
          <p:cNvSpPr/>
          <p:nvPr/>
        </p:nvSpPr>
        <p:spPr>
          <a:xfrm>
            <a:off x="9937800" y="4208400"/>
            <a:ext cx="473760" cy="8143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8925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5680" tIns="85680" rIns="85680" bIns="85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356;p27"/>
          <p:cNvSpPr/>
          <p:nvPr/>
        </p:nvSpPr>
        <p:spPr>
          <a:xfrm>
            <a:off x="8471160" y="5088600"/>
            <a:ext cx="3550320" cy="1159560"/>
          </a:xfrm>
          <a:prstGeom prst="rect">
            <a:avLst/>
          </a:prstGeom>
          <a:noFill/>
          <a:ln w="9525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5680" tIns="85680" rIns="85680" bIns="8568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7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Enrich the Dataset and classify false friends</a:t>
            </a:r>
            <a:endParaRPr lang="fr-F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361;p2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Google Shape;362;p28"/>
          <p:cNvSpPr/>
          <p:nvPr/>
        </p:nvSpPr>
        <p:spPr>
          <a:xfrm>
            <a:off x="2230560" y="1629360"/>
            <a:ext cx="7730640" cy="14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003F6C"/>
                </a:solidFill>
                <a:effectLst/>
                <a:uFillTx/>
                <a:latin typeface="Poppins"/>
                <a:ea typeface="Poppins"/>
              </a:rPr>
              <a:t>Thank you for your attention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363;p28"/>
          <p:cNvSpPr/>
          <p:nvPr/>
        </p:nvSpPr>
        <p:spPr>
          <a:xfrm>
            <a:off x="2414520" y="3209760"/>
            <a:ext cx="736236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Lightweight Drone Detection - Politecnico di Milano</a:t>
            </a:r>
            <a:endParaRPr lang="fr-F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364;p28"/>
          <p:cNvSpPr/>
          <p:nvPr/>
        </p:nvSpPr>
        <p:spPr>
          <a:xfrm>
            <a:off x="2414520" y="3905280"/>
            <a:ext cx="7362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Lato"/>
                <a:ea typeface="Lato"/>
              </a:rPr>
              <a:t>Numerical Analysis for Machine Learning (NAML) • Academic Year 2025/2026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Lato"/>
                <a:ea typeface="Lato"/>
              </a:rPr>
              <a:t>Louis-Aïtor Donval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dcterms:modified xsi:type="dcterms:W3CDTF">2026-07-07T12:37:09Z</dcterms:modified>
  <cp:revision>1</cp:revision>
  <dc:subject/>
  <dc:title/>
</cp:coreProperties>
</file>